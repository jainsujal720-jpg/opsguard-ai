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7f5c87323461d" /><Relationship Type="http://schemas.openxmlformats.org/officeDocument/2006/relationships/extended-properties" Target="/docProps/app.xml" Id="R3187dce7df774163" /><Relationship Type="http://schemas.openxmlformats.org/officeDocument/2006/relationships/officeDocument" Target="/ppt/presentation.xml" Id="Rb796954666cf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9d373be9f459c"/>
  </p:sldMasterIdLst>
  <p:notesMasterIdLst>
    <p:notesMasterId xmlns:r="http://schemas.openxmlformats.org/officeDocument/2006/relationships" r:id="R21cd99843c004d39"/>
  </p:notesMasterIdLst>
  <p:sldIdLst>
    <p:sldId xmlns:r="http://schemas.openxmlformats.org/officeDocument/2006/relationships" id="256" r:id="R95f9ccee7da249c6"/>
    <p:sldId xmlns:r="http://schemas.openxmlformats.org/officeDocument/2006/relationships" id="257" r:id="R4ae4b07d77f540bb"/>
    <p:sldId xmlns:r="http://schemas.openxmlformats.org/officeDocument/2006/relationships" id="258" r:id="R2a7a43b2b3094cce"/>
    <p:sldId xmlns:r="http://schemas.openxmlformats.org/officeDocument/2006/relationships" id="259" r:id="Rfcb782a6f9eb4bb6"/>
    <p:sldId xmlns:r="http://schemas.openxmlformats.org/officeDocument/2006/relationships" id="260" r:id="Re3ad4e63bad24764"/>
    <p:sldId xmlns:r="http://schemas.openxmlformats.org/officeDocument/2006/relationships" id="261" r:id="R99d13255c8c64c92"/>
    <p:sldId xmlns:r="http://schemas.openxmlformats.org/officeDocument/2006/relationships" id="262" r:id="Rdc52c9c13eaa4f79"/>
    <p:sldId xmlns:r="http://schemas.openxmlformats.org/officeDocument/2006/relationships" id="263" r:id="R0b56de194ca74524"/>
    <p:sldId xmlns:r="http://schemas.openxmlformats.org/officeDocument/2006/relationships" id="264" r:id="R1c30168f518240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8b17c58414bb5" /><Relationship Type="http://schemas.openxmlformats.org/officeDocument/2006/relationships/slideMaster" Target="/ppt/slideMasters/slideMaster1.xml" Id="R1c39d373be9f459c" /><Relationship Type="http://schemas.openxmlformats.org/officeDocument/2006/relationships/notesMaster" Target="/ppt/notesMasters/notesMaster1.xml" Id="R21cd99843c004d39" /><Relationship Type="http://schemas.openxmlformats.org/officeDocument/2006/relationships/presProps" Target="/ppt/presProps.xml" Id="Rcd753ac454af49c4" /><Relationship Type="http://schemas.openxmlformats.org/officeDocument/2006/relationships/tableStyles" Target="/ppt/tableStyles.xml" Id="R9427917199894d4e" /><Relationship Type="http://schemas.openxmlformats.org/officeDocument/2006/relationships/slide" Target="/ppt/slides/slide1.xml" Id="R95f9ccee7da249c6" /><Relationship Type="http://schemas.openxmlformats.org/officeDocument/2006/relationships/slide" Target="/ppt/slides/slide2.xml" Id="R4ae4b07d77f540bb" /><Relationship Type="http://schemas.openxmlformats.org/officeDocument/2006/relationships/slide" Target="/ppt/slides/slide3.xml" Id="R2a7a43b2b3094cce" /><Relationship Type="http://schemas.openxmlformats.org/officeDocument/2006/relationships/slide" Target="/ppt/slides/slide4.xml" Id="Rfcb782a6f9eb4bb6" /><Relationship Type="http://schemas.openxmlformats.org/officeDocument/2006/relationships/slide" Target="/ppt/slides/slide5.xml" Id="Re3ad4e63bad24764" /><Relationship Type="http://schemas.openxmlformats.org/officeDocument/2006/relationships/slide" Target="/ppt/slides/slide6.xml" Id="R99d13255c8c64c92" /><Relationship Type="http://schemas.openxmlformats.org/officeDocument/2006/relationships/slide" Target="/ppt/slides/slide7.xml" Id="Rdc52c9c13eaa4f79" /><Relationship Type="http://schemas.openxmlformats.org/officeDocument/2006/relationships/slide" Target="/ppt/slides/slide8.xml" Id="R0b56de194ca74524" /><Relationship Type="http://schemas.openxmlformats.org/officeDocument/2006/relationships/slide" Target="/ppt/slides/slide9.xml" Id="R1c30168f5182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17f121277a47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0abcd83504b20" /><Relationship Type="http://schemas.openxmlformats.org/officeDocument/2006/relationships/notesMaster" Target="/ppt/notesMasters/notesMaster1.xml" Id="Ra7e341e6597543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d0a12e1db4315" /><Relationship Type="http://schemas.openxmlformats.org/officeDocument/2006/relationships/notesMaster" Target="/ppt/notesMasters/notesMaster1.xml" Id="Re789a251c5354a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e92944a6fc424b" /><Relationship Type="http://schemas.openxmlformats.org/officeDocument/2006/relationships/notesMaster" Target="/ppt/notesMasters/notesMaster1.xml" Id="R13ad195b4f4c45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5fc40bc314ba0" /><Relationship Type="http://schemas.openxmlformats.org/officeDocument/2006/relationships/notesMaster" Target="/ppt/notesMasters/notesMaster1.xml" Id="R5f29dc52028c41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ba14d3292d4655" /><Relationship Type="http://schemas.openxmlformats.org/officeDocument/2006/relationships/notesMaster" Target="/ppt/notesMasters/notesMaster1.xml" Id="Reed55b0aae4549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e8b2eca3c4bdc" /><Relationship Type="http://schemas.openxmlformats.org/officeDocument/2006/relationships/notesMaster" Target="/ppt/notesMasters/notesMaster1.xml" Id="Rfdc9b4782371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a63ebf348c4479" /><Relationship Type="http://schemas.openxmlformats.org/officeDocument/2006/relationships/notesMaster" Target="/ppt/notesMasters/notesMaster1.xml" Id="R16977e196ba044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f82f1e45149f9" /><Relationship Type="http://schemas.openxmlformats.org/officeDocument/2006/relationships/notesMaster" Target="/ppt/notesMasters/notesMaster1.xml" Id="R4a7230dfd46c45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ca4dc40934f43" /><Relationship Type="http://schemas.openxmlformats.org/officeDocument/2006/relationships/notesMaster" Target="/ppt/notesMasters/notesMaster1.xml" Id="Rf954aa6de3254c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OpsGuard as a governed operations prototype. Emphasize that the demonstration is synthetic and no real refund or helper assignment occurred.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synthetic case EZH-1042 in the OpsGuard repository. The figures are test data, not production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AI is one bounded stage, not the system owner. The rules engine and manager decision are explicit control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key product judgment: generative AI handles ambiguity, while deterministic code handles operational truth and humans handle material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clean n8n V3 workflow canvas captured after configuration. The lower branch sends the Twilio trial template and is configured to continue on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September 2026. The WhatsApp content is Twilio's trial appointment-reminder template. It proves delivery mechanics, not final production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overclaiming. The prototype demonstrates orchestration and governance, while production reliability and system integration remain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build should close the loop with worker replies, atomic assignment, delivery callbacks, and durable state. The metric list converts the workflow into an operating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accountability. If asked about your contribution, describe the operational framing, control model, branching workflow, testing discipline, and production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a490a71db4e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59e3076653444c" /><Relationship Type="http://schemas.openxmlformats.org/officeDocument/2006/relationships/slideLayout" Target="/ppt/slideLayouts/slideLayout1.xml" Id="R5c78807276db43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8807276db43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9530f85834416" /><Relationship Type="http://schemas.openxmlformats.org/officeDocument/2006/relationships/notesSlide" Target="/ppt/notesSlides/notesSlide1.xml" Id="R6743fae7c1a54a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077832ca447c4" /><Relationship Type="http://schemas.openxmlformats.org/officeDocument/2006/relationships/notesSlide" Target="/ppt/notesSlides/notesSlide2.xml" Id="R6a971be64cab45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16bd539ea4e2b" /><Relationship Type="http://schemas.openxmlformats.org/officeDocument/2006/relationships/notesSlide" Target="/ppt/notesSlides/notesSlide3.xml" Id="R2227cef2d1bc4e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101178a934d46" /><Relationship Type="http://schemas.openxmlformats.org/officeDocument/2006/relationships/notesSlide" Target="/ppt/notesSlides/notesSlide4.xml" Id="R7102caaeb1a447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aa8b370ec4d78" /><Relationship Type="http://schemas.openxmlformats.org/officeDocument/2006/relationships/image" Target="/ppt/media/image.png" Id="Rfa4f32b9246343e3" /><Relationship Type="http://schemas.openxmlformats.org/officeDocument/2006/relationships/notesSlide" Target="/ppt/notesSlides/notesSlide5.xml" Id="Rc7b1c9ddd32f4b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18af0213c4593" /><Relationship Type="http://schemas.openxmlformats.org/officeDocument/2006/relationships/image" Target="/ppt/media/image2.png" Id="R23ba63ea9dff4603" /><Relationship Type="http://schemas.openxmlformats.org/officeDocument/2006/relationships/notesSlide" Target="/ppt/notesSlides/notesSlide6.xml" Id="R7c2c1eb35ff84e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32bbc8cba4c2e" /><Relationship Type="http://schemas.openxmlformats.org/officeDocument/2006/relationships/notesSlide" Target="/ppt/notesSlides/notesSlide7.xml" Id="Rd72125a4ae49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1be266c864d22" /><Relationship Type="http://schemas.openxmlformats.org/officeDocument/2006/relationships/notesSlide" Target="/ppt/notesSlides/notesSlide8.xml" Id="R2e6a1fe29ce4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31c6b864f4e06" /><Relationship Type="http://schemas.openxmlformats.org/officeDocument/2006/relationships/notesSlide" Target="/ppt/notesSlides/notesSlide9.xml" Id="Rbd8a1a76e4dd49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64458-56CF-4C35-AB2B-C2577799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D5B7F-DC7A-478C-999D-B5B8D6A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OPSGUARD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043FA-2C0F-4AF1-9FF3-3A02A8B8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Governed exception handling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for household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7165-CA8A-4909-843D-3377DB3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1EC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D8E1EC"/>
                </a:solidFill>
                <a:latin typeface="Nimbus Sans"/>
                <a:ea typeface="Nimbus Sans"/>
                <a:cs typeface="Nimbus Sans"/>
              </a:rPr>
              <a:t>From helper no-show to customer recovery with bounded AI, deterministic rules, and human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06430-DD6F-404B-9A88-0F049E3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14450"/>
            <a:ext cx="2428875" cy="2428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E7971-0C4C-42FB-BF18-6989D3B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1400175" cy="1400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31DE9-2819-484B-A82E-86C7A22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81225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2F674-EE54-4C2A-A0E8-1303054E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CC5DB-13C4-4BFC-8521-0C89BCAF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Sujal Jain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52E54-7292-4D85-9DEF-A9799C98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0D2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AFC0D2"/>
                </a:solidFill>
                <a:latin typeface="Nimbus Sans"/>
                <a:ea typeface="Nimbus Sans"/>
                <a:cs typeface="Nimbus Sans"/>
              </a:rPr>
              <a:t>Product and program case study  |  September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5D3A8-AFA6-423B-A871-B91BB74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578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INTERVIEW DECK</a:t>
            </a:r>
          </a:p>
        </p:txBody>
      </p:sp>
    </p:spTree>
    <p:extLst>
      <p:ext uri="{BB962C8B-B14F-4D97-AF65-F5344CB8AC3E}">
        <p14:creationId xmlns:p14="http://schemas.microsoft.com/office/powerpoint/2010/main" val="747255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485CB-F2E5-4906-A34B-AA82CF9E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OPERATIONAL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F53A6-F6F3-4029-A9B8-12158F65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One no-show creates five linked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C798-AF7E-4D23-900A-F34BF7D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841B0-AC16-4303-B8D3-8D04BCDD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A3443-CC17-4B1A-BBC1-1C3B8897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Synthetic case EZH-1042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0BE3F-A0D4-4A85-889E-7C71F04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A confirmed cleaner has not checked in and is 30 minutes late. The customer has a 1:00 PM deadline.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17BAD-6530-4D21-87F2-1DC03636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30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E38C1-03A4-405E-9D29-D2FF7B97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C7756-2AF7-4DC4-855A-84A75A34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12BFB-E074-4571-AB08-D91E1E26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3.5 hrs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E6A19-2730-4493-B321-D1BA0EC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BDC8D-DA4A-487A-BEC7-85CDE06B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TO DEADLINE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0E9E8-AF00-4F05-ADF0-EF40CA38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₹500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79B9B-6246-4B1F-8E67-2D3CDA4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8E96C-F9AD-439E-9EEF-9AA9B414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REFUND 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D7E80-2ACC-48E6-8C0F-105EDED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₹300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A49C9-4C7B-4C9A-A976-4AD4FEA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F149B-04E5-40E6-BD09-572A80A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AUTO LIMIT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F4769-5771-47A6-91B5-AE4C630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10:15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7CBAE-6D6E-4721-911D-A0C96533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0AC00-2676-4D12-9A63-9CB58144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REPLACEMENT ETA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0AFD8-E35C-4014-9416-D453E27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10299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952B1-1D62-4347-B48A-83B414A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The design challenge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04052-5E0A-4B41-BB13-C2ACD65F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Move fast enough to recover the service while preventing unverified assignments, unauthorized refunds, and inconsistent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523728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A3DC83-88E6-471E-A50B-423867A2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990EA-D765-4927-A767-84917818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Interpretation and authority are deliberately separated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EABE5-4F4C-413B-9FC4-0E42CE88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17AA-C109-4CF5-8ABD-C2350B54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3882D-0F81-425B-9B8C-0E6FFBD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000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4BF4D-7082-4682-BF86-8A607353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7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FE167-FFCE-41FF-B64C-F819CBC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673F9-8C61-4F55-8C2A-20DE8730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Webhook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75438-17DB-46C5-9CFE-1C09B63A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Structured case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77E1B-7FE5-4424-B07F-E4690697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38375"/>
            <a:ext cx="2000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85F43-4B45-4E2B-9CB7-64C627BE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288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5FF0F-B7E0-4CCF-A2D7-0997D5F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050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CAFDC-F89A-4C93-8C54-F0D46FF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AI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CD0DC-42AE-48DC-A784-4132E9E7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24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Intent and sentiment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C5BC8-A8C6-4FF2-A02D-231E63C5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38375"/>
            <a:ext cx="2000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42BBF-A34B-46F5-A541-60B35305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288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FF6BA-5580-41AE-814C-D48641A4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050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A3409-943B-43F6-B023-31A4548E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Rules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B7EBF-70AB-4AC6-BA07-F8F5CDB0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Facts and eligibility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30B89-F081-491D-A17D-68606B6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2000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B7662-4FCB-4DBD-8C18-730907D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288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02BEB-39B7-449E-B8F0-DED7BAA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B0A3E-8855-4AF0-A4E9-E2431C2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Human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2FF97-D029-4C33-B5D0-AC2BA70F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24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High-value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53554-9EA4-400F-8767-EBC5192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2000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677A0-8D67-4CE2-B0CF-F8F2D0EF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C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2C73C-7A02-4394-B5E3-7961EF51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050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CBDAB1-19F7-4C61-BA8A-111E4606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99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Channel orchestration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8F6F6-C026-4C28-94A3-BCCE8DB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24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Email and WhatsApp</a:t>
            </a:r>
          </a:p>
        </p:txBody>
      </p: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00300" y="30861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43450" y="30861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86600" y="30861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429750" y="30861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48A9A5-9715-4084-932D-2578BE2D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762500"/>
            <a:ext cx="8905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EE62F8-249F-42AA-9571-0E05A627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72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Control principle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0FDBF2-6793-4C38-8DBA-38E9110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958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AI proposes structured meaning. Rules and people authorize action.</a:t>
            </a:r>
          </a:p>
        </p:txBody>
      </p:sp>
    </p:spTree>
    <p:extLst>
      <p:ext uri="{BB962C8B-B14F-4D97-AF65-F5344CB8AC3E}">
        <p14:creationId xmlns:p14="http://schemas.microsoft.com/office/powerpoint/2010/main" val="1250196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091AB-12F9-44F2-AA23-8BF6B3A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GOVERNANCE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82A27-A4D0-40DB-9AB1-ACDFA743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Every decision has a named owner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41F3-FC95-469E-A26C-4BD4BDB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26412-4EBA-49DF-8E7B-05E6A1D3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7454-064E-45A7-B1E2-CB90796E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A0B03-0823-41DE-A6D1-F0E19C5A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AI interprets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A4F99-9CA5-4C52-86C3-78888331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181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Customer intent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Urgency language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Sentiment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Requested resolution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B5E8D-E8D7-4CC5-8C36-8141074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85925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977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59248-C36E-4A49-91F9-DEB5924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Rules calculate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BA15-E09E-45DD-8EB1-48683B0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19375"/>
            <a:ext cx="3181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Minutes late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Worker eligibility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Arrival feasibility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Refund 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C8F9C-E879-425B-897B-758E4AF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85925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6B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C94A3-2E95-411E-93F5-6C4B39C0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145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Manager authorizes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06E79-C3C6-462C-9B42-AC3EA9FB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3181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Refund above limit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Approve or decline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Consequential action</a:t>
            </a:r>
          </a:p>
          <a:p xmlns:a="http://schemas.openxmlformats.org/drawingml/2006/main">
            <a:pPr algn="l">
              <a:def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Recorded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DB104-1B0B-4416-9324-DAC90A65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66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FA032-8FF8-4CDA-B077-A2C36D8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66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EC1FD-3A14-4C6E-924B-6019142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1029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FE6F9-03CA-4FB5-831B-1EA48989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0430F-58C4-46AB-9AB0-17C2EF4D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339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Fast automation without surrendering policy, auditability, or human control.</a:t>
            </a:r>
          </a:p>
        </p:txBody>
      </p:sp>
    </p:spTree>
    <p:extLst>
      <p:ext uri="{BB962C8B-B14F-4D97-AF65-F5344CB8AC3E}">
        <p14:creationId xmlns:p14="http://schemas.microsoft.com/office/powerpoint/2010/main" val="1754216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FA072-BC1D-4115-BD1B-80B8B26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IMPLEMENTATION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FF19D-7A8B-47C8-97B4-1DC6A086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V3 orchestrates email, approval, and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CFE6F-B4E3-4D42-9B2D-F89524E2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1D9F7-986B-43B3-9DCB-366A256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f32b9246343e3"/>
          <a:srcRect xmlns:a="http://schemas.openxmlformats.org/drawingml/2006/main" l="0" t="17556" r="0" b="17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04950"/>
            <a:ext cx="110299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30826-2F86-4B5A-A55D-0FE7E3B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62200"/>
            <a:ext cx="2238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A7E6B-C557-4484-B48D-049624B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V3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927C9-2B96-432C-A4D5-E313648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 Gmail nodes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Twilio API credential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 sandbox placeholders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Synthetic execution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88A66-5394-4E55-8D72-C74EA711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333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54078-E22E-4C31-A37B-6097C7CF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WhatsApp runs as a non-blocking branch</a:t>
            </a:r>
          </a:p>
        </p:txBody>
      </p:sp>
    </p:spTree>
    <p:extLst>
      <p:ext uri="{BB962C8B-B14F-4D97-AF65-F5344CB8AC3E}">
        <p14:creationId xmlns:p14="http://schemas.microsoft.com/office/powerpoint/2010/main" val="14896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75C48-CABA-4A9B-AA45-D85F346C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VALIDATED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F8F26-13B4-4B9C-82CF-9CC403C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 full synthetic path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0C292-9DCA-4305-86C8-8DCC4AC1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0D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AFC0D2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86EE5-E743-4682-BE93-0BF665F3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673B0-D017-4454-9E1A-860A9AF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16856-A1AA-4631-8483-488BB2A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Webhook received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2906D-2811-4C5D-A2FE-B11AF12E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1455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554DD-B683-4093-A053-848D6C9D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52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61703-E6F9-4B27-B360-F0ED438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39999-6E70-4AA0-801F-FC8A80E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479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Initial email 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71A8F-6DD7-4D17-86B5-15431250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40C1C-2232-4F51-ABD0-A5BEF86B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52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4BE5C-F213-4B19-B102-97118442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90462-E708-450B-8CF4-98E518CE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479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Manager approved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D99B2-B9D7-4C55-A7D4-8640CFD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1455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D6178-60E7-42B5-AFBF-BCA18664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82E10-4E76-4D42-8BC8-8884453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02652-0C06-499F-B938-51C20D9B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479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Final email 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8CAB5-E7B1-44AF-8108-1DC5B6FA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1455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01DA6-2F36-4753-BCFE-E503585B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4728A-C83A-4299-B42C-61E570B8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5C7C4-D507-4D67-8235-6045F70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79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WhatsApp delivered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51943-28F2-4254-9331-D55E43A4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876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a63ea9dff4603"/>
          <a:stretch xmlns:a="http://schemas.openxmlformats.org/drawingml/2006/main"/>
        </p:blipFill>
        <p:spPr>
          <a:xfrm xmlns:a="http://schemas.openxmlformats.org/drawingml/2006/main">
            <a:off x="1952625" y="3868645"/>
            <a:ext cx="8286750" cy="873311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F7DFF-76F3-4D5D-9F18-19918ED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10 /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CA108-D28D-43AE-BF78-651AFFD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91150"/>
            <a:ext cx="3000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regression tests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7461C-0C2A-43BA-B216-28A103F7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911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FC0D2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AFC0D2"/>
                </a:solidFill>
                <a:latin typeface="Nimbus Sans"/>
                <a:ea typeface="Nimbus Sans"/>
                <a:cs typeface="Nimbus Sans"/>
              </a:rPr>
              <a:t>Synthetic only. No real helper or refund action.</a:t>
            </a:r>
          </a:p>
        </p:txBody>
      </p:sp>
    </p:spTree>
    <p:extLst>
      <p:ext uri="{BB962C8B-B14F-4D97-AF65-F5344CB8AC3E}">
        <p14:creationId xmlns:p14="http://schemas.microsoft.com/office/powerpoint/2010/main" val="1798709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6F76E-DCE7-4018-B6B6-2E7CFEE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RISK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9D55D-B3BA-4074-B336-85CD277F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The prototype is explicit about its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D4BCD-7373-4649-AFF0-4B4FA764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9F954-F640-444E-A98C-23750397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98E0E-8A8A-448B-A129-94038C02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C68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B9C68"/>
                </a:solidFill>
                <a:latin typeface="Nimbus Sans"/>
                <a:ea typeface="Nimbus Sans"/>
                <a:cs typeface="Nimbus Sans"/>
              </a:rPr>
              <a:t>Controls already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A04A1-750C-442B-B290-D3C0BE9D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Production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EBAFF-8BF1-42F7-8732-214DD422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36764-A4D9-4990-A89D-842EEE6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Synthetic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888B4-13C6-4A43-9F67-31C3A3F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860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No real refund or assignment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68B2D-D8FB-48F7-AF99-A63634B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B7A0F-1967-4406-91BD-74DA51E1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Human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BEAC3-4E0C-4EB0-91D9-ED933B04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₹500 exceeds the ₹300 auto limit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6BF9E-A846-47DC-BCE1-0CDB11CC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D6962-A243-4063-BCCA-08DBFFC0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Validated 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D6C84-4662-46E5-9090-7B0067C3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386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Worker must exist and be eligible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490BF-3384-40A5-985E-E3CBF3D2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B9C68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E8433-B682-4933-AA2D-4BB884A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Channel isolation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E6801-783F-4AF9-9381-88F559C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14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WhatsApp cannot block core resolution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1CA7E-7A26-48D4-97DD-19F82CB7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4B9D4-49FC-40FE-8461-CA9065A5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Trial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49763-E8AB-4A01-8432-7D605995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Replace with an approved OpsGuard template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4C99E-4695-46BA-914B-A0AE3C8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3C9122-A6F2-41F4-9A10-786AF9A8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Fixed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7D085-AD9C-4D5A-9735-CE43A9A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Retrieve the selected worker dynamically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AA0C2-69D7-4E41-B160-50593C69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3470D-7BDD-4290-B471-57CE3E57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No delivery callbacks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D5DB51-61B5-4AB4-BB2E-E05BF0A7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386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Add status, retries, and alerts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DA30A-6EF2-422C-B9D5-7281EEAC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6B5E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94599-0CE1-4A80-9292-ABA9C5F0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49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No production APIs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DC18B0-655F-44AF-A5B1-4C76203E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14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Connect booking, CRM, and payments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C8483-714A-4FB9-A71B-485D05D2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9314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BE38DB-03AE-45CB-83E0-6F9B2A2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PRODUCTION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7F3A-D4B6-4501-8001-BA6BBA4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Turn the prototype into an operational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8CF22-F37C-440C-8F49-C7AD28F9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86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24919-15D1-4A61-BD6B-3144371E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B83BE-5388-4E22-8103-B377325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DC2C8-0C4C-4344-A42E-97AD77B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Authenticated event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406BA-80F2-47BB-9A99-3663A52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Idempotent case webhook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9D436-8AEC-4D0C-B579-0FDB005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EEEC9-8DCF-46A6-A52F-A7C9F500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B3867-E87C-4299-B6F8-94708B1C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60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Dynamic 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20504-3A58-4A58-B5DE-5A7E869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431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Availability and eligibility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2E898-2AC6-443F-B819-AEA29A49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B931D-4A18-49DC-B847-72C0F91B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91F97-AAC5-401A-8AA8-F6AB1319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Worker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73531-7427-461C-80F3-9A7DEAB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194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Accept or decline on WhatsApp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D549B-EA42-4F71-90C5-B3D866BC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0048B-34E4-45AB-B77C-0BF3DF04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4DBA8-80F9-4D0B-B1F5-CD909DF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Atomic assignment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05144-B985-4801-B524-06F7BEEF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957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Update schedule and audit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3C6DD-3595-4C5B-90F5-E69AD8C3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E4FD2-D3AB-412E-BDBA-70EFFAC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69554-D370-4F3A-846C-DABD32FF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4243A"/>
                </a:solidFill>
                <a:latin typeface="Nimbus Sans"/>
                <a:ea typeface="Nimbus Sans"/>
                <a:cs typeface="Nimbus Sans"/>
              </a:rPr>
              <a:t>Customer closure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0A454-03F8-4B21-BF6A-6F94C7AC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720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5758B"/>
                </a:solidFill>
                <a:latin typeface="Nimbus Sans"/>
                <a:ea typeface="Nimbus Sans"/>
                <a:cs typeface="Nimbus Sans"/>
              </a:rPr>
              <a:t>Confirmed ETA and approved refund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514CA-08D7-4258-9295-6D64727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1762125" cy="4286250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0E4E5-6084-4E38-A2D8-DF63900E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0977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Operating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5BBC1-A6A6-4F4F-8EB2-7BAF0594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43225"/>
            <a:ext cx="13144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rPr>
              <a:t>Time to recovery</a:t>
            </a:r>
          </a:p>
          <a:p xmlns:a="http://schemas.openxmlformats.org/drawingml/2006/main">
            <a:pPr algn="l">
              <a:def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rPr>
              <a:t>Approval latency</a:t>
            </a:r>
          </a:p>
          <a:p xmlns:a="http://schemas.openxmlformats.org/drawingml/2006/main">
            <a:pPr algn="l">
              <a:def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rPr>
              <a:t>Worker acceptance</a:t>
            </a:r>
          </a:p>
          <a:p xmlns:a="http://schemas.openxmlformats.org/drawingml/2006/main">
            <a:pPr algn="l">
              <a:def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rPr>
              <a:t>Delivery success</a:t>
            </a:r>
          </a:p>
          <a:p xmlns:a="http://schemas.openxmlformats.org/drawingml/2006/main">
            <a:pPr algn="l">
              <a:def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8E1EC"/>
                </a:solidFill>
                <a:latin typeface="Nimbus Sans"/>
                <a:ea typeface="Nimbus Sans"/>
                <a:cs typeface="Nimbus Sans"/>
              </a:rPr>
              <a:t>Customer resolution</a:t>
            </a:r>
          </a:p>
        </p:txBody>
      </p:sp>
    </p:spTree>
    <p:extLst>
      <p:ext uri="{BB962C8B-B14F-4D97-AF65-F5344CB8AC3E}">
        <p14:creationId xmlns:p14="http://schemas.microsoft.com/office/powerpoint/2010/main" val="1907756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47D32-2AE0-43EC-83C2-0399BA4A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WHY THIS PROJECT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5A075-57D4-4920-BFDC-7698A62B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 translated an ambiguous service failure</a:t>
            </a:r>
          </a:p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into a controlled, testable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C9623-8501-4AF6-97F6-0599E5F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55661-D163-4CA2-BBA3-DC53993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Product judgment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9FCCD-14C2-4698-BACA-52EE2431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C7D3E1"/>
                </a:solidFill>
                <a:latin typeface="Nimbus Sans"/>
                <a:ea typeface="Nimbus Sans"/>
                <a:cs typeface="Nimbus Sans"/>
              </a:rPr>
              <a:t>Separated speed from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E944F-8CA5-40A8-B669-4DF5116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44848-FE41-4902-BF19-3AE4EBB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004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Program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9BE97-FFA6-4BB1-8E42-B394139F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957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C7D3E1"/>
                </a:solidFill>
                <a:latin typeface="Nimbus Sans"/>
                <a:ea typeface="Nimbus Sans"/>
                <a:cs typeface="Nimbus Sans"/>
              </a:rPr>
              <a:t>Connected rules, approval, and channels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78AF5-CFBF-41F6-85E5-7C475618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6B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5999D-D851-46DE-ADC7-90F38DC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04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Technical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3CF83-0473-451C-A89C-A2F9FCC0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3E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C7D3E1"/>
                </a:solidFill>
                <a:latin typeface="Nimbus Sans"/>
                <a:ea typeface="Nimbus Sans"/>
                <a:cs typeface="Nimbus Sans"/>
              </a:rPr>
              <a:t>Built, tested, and validated V3 end to 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4CBDD-6665-4BA5-A2D3-CAD7EC6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1029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89E9D-8FB7-481E-9C7F-E1249D2A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4B8A6"/>
                </a:solidFill>
                <a:latin typeface="Nimbus Sans"/>
                <a:ea typeface="Nimbus Sans"/>
                <a:cs typeface="Nimbus Sans"/>
              </a:rPr>
              <a:t>Takeaway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DE6AC-7124-46AE-9F8B-9E3C540E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57800"/>
            <a:ext cx="914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 best AI workflow is not the one with the most autonomy. It is the one with the clearest accountability.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C8B4B-C330-4C4C-B811-54C445C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D2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FC0D2"/>
                </a:solidFill>
                <a:latin typeface="Nimbus Sans"/>
                <a:ea typeface="Nimbus Sans"/>
                <a:cs typeface="Nimbus Sans"/>
              </a:rPr>
              <a:t>Sujal Jain  |  OpsGuard AI</a:t>
            </a:r>
          </a:p>
        </p:txBody>
      </p:sp>
    </p:spTree>
    <p:extLst>
      <p:ext uri="{BB962C8B-B14F-4D97-AF65-F5344CB8AC3E}">
        <p14:creationId xmlns:p14="http://schemas.microsoft.com/office/powerpoint/2010/main" val="1081330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2026-09-09T07:02:02.1660000Z</dcterms:created>
  <dcterms:modified xsi:type="dcterms:W3CDTF">2026-09-09T07:02:02.1660000Z</dcterms:modified>
</coreProperties>
</file>